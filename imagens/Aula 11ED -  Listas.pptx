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8" r:id="rId2"/>
  </p:sldMasterIdLst>
  <p:notesMasterIdLst>
    <p:notesMasterId r:id="rId17"/>
  </p:notesMasterIdLst>
  <p:sldIdLst>
    <p:sldId id="332" r:id="rId3"/>
    <p:sldId id="257" r:id="rId4"/>
    <p:sldId id="323" r:id="rId5"/>
    <p:sldId id="335" r:id="rId6"/>
    <p:sldId id="352" r:id="rId7"/>
    <p:sldId id="353" r:id="rId8"/>
    <p:sldId id="354" r:id="rId9"/>
    <p:sldId id="362" r:id="rId10"/>
    <p:sldId id="355" r:id="rId11"/>
    <p:sldId id="356" r:id="rId12"/>
    <p:sldId id="357" r:id="rId13"/>
    <p:sldId id="358" r:id="rId14"/>
    <p:sldId id="360" r:id="rId15"/>
    <p:sldId id="36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03" autoAdjust="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40DD5D-40BB-4BE0-9A43-1772DD0EBB5F}" type="datetimeFigureOut">
              <a:rPr lang="pt-BR" smtClean="0"/>
              <a:t>29/10/2025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D134E-E9B9-491B-9057-7D93F24CD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0992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1617718148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1617718148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1617718148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1617718148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1434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4c43c636a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4c43c636a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4097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4c43c636a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4c43c636a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0489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4c43c636a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4c43c636a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2076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4c43c636a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4c43c636a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3014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4c43c636a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4c43c636a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3312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4c43c636a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4c43c636a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5818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4c43c636a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4c43c636a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5390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4c43c636a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4c43c636a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5809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4c43c636a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4c43c636a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9598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4c43c636a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4c43c636a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256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483FE-A76A-452B-AD7A-B5F6750D9E26}" type="datetime1">
              <a:rPr lang="pt-BR" smtClean="0"/>
              <a:t>29/10/2025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E29E8-6E0F-4925-A21D-02D3F357D7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079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99541"/>
            <a:ext cx="8596668" cy="13208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6ED0E-9349-416D-9BED-7B88659969C3}" type="datetime1">
              <a:rPr lang="pt-BR" smtClean="0"/>
              <a:t>29/10/2025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5083" y="4243265"/>
            <a:ext cx="683339" cy="365125"/>
          </a:xfrm>
        </p:spPr>
        <p:txBody>
          <a:bodyPr/>
          <a:lstStyle>
            <a:lvl1pPr>
              <a:defRPr sz="1200" b="1"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fld id="{F9CE29E8-6E0F-4925-A21D-02D3F357D781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A0B9F00-A538-4C73-BCCF-1B19802063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4" b="9898"/>
          <a:stretch/>
        </p:blipFill>
        <p:spPr>
          <a:xfrm>
            <a:off x="7250106" y="0"/>
            <a:ext cx="2080844" cy="91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83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BE8BB-FCDC-486B-82FB-90F1EB3B63BF}" type="datetime1">
              <a:rPr lang="pt-BR" smtClean="0"/>
              <a:t>29/10/2025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E29E8-6E0F-4925-A21D-02D3F357D7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946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6E126-A510-4EEC-899E-4809E6E28637}" type="datetime1">
              <a:rPr lang="pt-BR" smtClean="0"/>
              <a:t>29/10/2025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E29E8-6E0F-4925-A21D-02D3F357D7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4823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4B6AC-259B-4946-A354-A8521C7EB192}" type="datetime1">
              <a:rPr lang="pt-BR" smtClean="0"/>
              <a:t>29/10/2025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E29E8-6E0F-4925-A21D-02D3F357D7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0123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C882-22FA-4EAA-A9AB-3F1C6A67E5A2}" type="datetime1">
              <a:rPr lang="pt-BR" smtClean="0"/>
              <a:t>29/10/2025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E29E8-6E0F-4925-A21D-02D3F357D7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7657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C03BA-6CCB-43EE-A032-3F277EFD1567}" type="datetime1">
              <a:rPr lang="pt-BR" smtClean="0"/>
              <a:t>29/10/2025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E29E8-6E0F-4925-A21D-02D3F357D7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771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F7762-83E2-476A-805A-0D6338DD461C}" type="datetime1">
              <a:rPr lang="pt-BR" smtClean="0"/>
              <a:t>29/10/2025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E29E8-6E0F-4925-A21D-02D3F357D7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8024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AC018-7A62-4751-A849-66CE2DE95AB8}" type="datetime1">
              <a:rPr lang="pt-BR" smtClean="0"/>
              <a:t>29/10/2025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E29E8-6E0F-4925-A21D-02D3F357D7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470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310DB-D9BB-4FEA-9120-67275FB889D8}" type="datetime1">
              <a:rPr lang="pt-BR" smtClean="0"/>
              <a:t>29/10/2025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E29E8-6E0F-4925-A21D-02D3F357D7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06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DFDBC-F648-4B5E-8233-698774C86FDB}" type="datetime1">
              <a:rPr lang="pt-BR" smtClean="0"/>
              <a:t>29/10/2025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E29E8-6E0F-4925-A21D-02D3F357D781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5104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62794-4131-4945-9F99-138D34985CD7}" type="datetime1">
              <a:rPr lang="pt-BR" smtClean="0"/>
              <a:t>29/10/2025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E29E8-6E0F-4925-A21D-02D3F357D7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4372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0AC79-2226-4894-A43C-AAE21AACE99B}" type="datetime1">
              <a:rPr lang="pt-BR" smtClean="0"/>
              <a:t>29/10/2025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E29E8-6E0F-4925-A21D-02D3F357D781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1055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8B198-5017-427E-8CD0-EEC58BBEEEDB}" type="datetime1">
              <a:rPr lang="pt-BR" smtClean="0"/>
              <a:t>29/10/2025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E29E8-6E0F-4925-A21D-02D3F357D7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4082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EE58-549D-4BED-9FE4-27BEFEBA8BB9}" type="datetime1">
              <a:rPr lang="pt-BR" smtClean="0"/>
              <a:t>29/10/2025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E29E8-6E0F-4925-A21D-02D3F357D7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755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0D5CD-FA1A-4D38-BB9C-CDE187579F7A}" type="datetime1">
              <a:rPr lang="pt-BR" smtClean="0"/>
              <a:t>29/10/2025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E29E8-6E0F-4925-A21D-02D3F357D7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1131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758667" y="1"/>
            <a:ext cx="2433333" cy="93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33">
                <a:solidFill>
                  <a:srgbClr val="595959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sz="1333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554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9962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488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758667" y="1"/>
            <a:ext cx="2433333" cy="93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333">
                <a:solidFill>
                  <a:srgbClr val="595959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 sz="1333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8892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b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758667" y="1"/>
            <a:ext cx="2433333" cy="930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15833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23064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77351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50858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92;p2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87227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36854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43817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630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C7635-0368-4F34-9976-74FDED2EEAD3}" type="datetime1">
              <a:rPr lang="pt-BR" smtClean="0"/>
              <a:t>29/10/2025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9CE29E8-6E0F-4925-A21D-02D3F357D7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44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333">
                <a:solidFill>
                  <a:schemeClr val="dk2"/>
                </a:solidFill>
              </a:defRPr>
            </a:lvl1pPr>
            <a:lvl2pPr lvl="1" algn="r" rtl="0">
              <a:buNone/>
              <a:defRPr sz="1333">
                <a:solidFill>
                  <a:schemeClr val="dk2"/>
                </a:solidFill>
              </a:defRPr>
            </a:lvl2pPr>
            <a:lvl3pPr lvl="2" algn="r" rtl="0">
              <a:buNone/>
              <a:defRPr sz="1333">
                <a:solidFill>
                  <a:schemeClr val="dk2"/>
                </a:solidFill>
              </a:defRPr>
            </a:lvl3pPr>
            <a:lvl4pPr lvl="3" algn="r" rtl="0">
              <a:buNone/>
              <a:defRPr sz="1333">
                <a:solidFill>
                  <a:schemeClr val="dk2"/>
                </a:solidFill>
              </a:defRPr>
            </a:lvl4pPr>
            <a:lvl5pPr lvl="4" algn="r" rtl="0">
              <a:buNone/>
              <a:defRPr sz="1333">
                <a:solidFill>
                  <a:schemeClr val="dk2"/>
                </a:solidFill>
              </a:defRPr>
            </a:lvl5pPr>
            <a:lvl6pPr lvl="5" algn="r" rtl="0">
              <a:buNone/>
              <a:defRPr sz="1333">
                <a:solidFill>
                  <a:schemeClr val="dk2"/>
                </a:solidFill>
              </a:defRPr>
            </a:lvl6pPr>
            <a:lvl7pPr lvl="6" algn="r" rtl="0">
              <a:buNone/>
              <a:defRPr sz="1333">
                <a:solidFill>
                  <a:schemeClr val="dk2"/>
                </a:solidFill>
              </a:defRPr>
            </a:lvl7pPr>
            <a:lvl8pPr lvl="7" algn="r" rtl="0">
              <a:buNone/>
              <a:defRPr sz="1333">
                <a:solidFill>
                  <a:schemeClr val="dk2"/>
                </a:solidFill>
              </a:defRPr>
            </a:lvl8pPr>
            <a:lvl9pPr lvl="8" algn="r" rtl="0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63957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0;p25">
            <a:extLst>
              <a:ext uri="{FF2B5EF4-FFF2-40B4-BE49-F238E27FC236}">
                <a16:creationId xmlns:a16="http://schemas.microsoft.com/office/drawing/2014/main" id="{B909E2DF-D03F-6FFD-2979-BE99EB47382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1490" y="1414427"/>
            <a:ext cx="9290878" cy="40291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aixaDeTexto 3"/>
          <p:cNvSpPr txBox="1">
            <a:spLocks noChangeArrowheads="1"/>
          </p:cNvSpPr>
          <p:nvPr/>
        </p:nvSpPr>
        <p:spPr bwMode="auto">
          <a:xfrm>
            <a:off x="3569982" y="6362795"/>
            <a:ext cx="3887788" cy="29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600"/>
              </a:lnSpc>
              <a:defRPr/>
            </a:pPr>
            <a:r>
              <a:rPr lang="pt-BR" altLang="pt-BR" sz="1400" dirty="0">
                <a:latin typeface="Arial" charset="0"/>
              </a:rPr>
              <a:t>profa.rosaneol@gmail.com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D39131A-16CA-45E7-9BA8-9C06ECE6600F}"/>
              </a:ext>
            </a:extLst>
          </p:cNvPr>
          <p:cNvSpPr/>
          <p:nvPr/>
        </p:nvSpPr>
        <p:spPr>
          <a:xfrm>
            <a:off x="3092911" y="6007040"/>
            <a:ext cx="38811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1000"/>
              </a:spcBef>
              <a:buClr>
                <a:srgbClr val="90C226"/>
              </a:buClr>
              <a:buSzPct val="80000"/>
            </a:pPr>
            <a:r>
              <a:rPr lang="pt-BR" sz="2000" dirty="0">
                <a:solidFill>
                  <a:srgbClr val="90C226">
                    <a:lumMod val="50000"/>
                  </a:srgbClr>
                </a:solidFill>
                <a:latin typeface="Britannic Bold" panose="020B0903060703020204" pitchFamily="34" charset="0"/>
              </a:rPr>
              <a:t>Profa. Me. Rosane Ortiz Langner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AE21AC0-CB34-452A-8485-964D4E2767E0}"/>
              </a:ext>
            </a:extLst>
          </p:cNvPr>
          <p:cNvSpPr txBox="1"/>
          <p:nvPr/>
        </p:nvSpPr>
        <p:spPr>
          <a:xfrm>
            <a:off x="2544602" y="5581391"/>
            <a:ext cx="7232444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Bef>
                <a:spcPct val="0"/>
              </a:spcBef>
              <a:defRPr/>
            </a:pPr>
            <a:r>
              <a:rPr lang="pt-BR" sz="2800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  <a:ea typeface="+mj-ea"/>
                <a:cs typeface="+mj-cs"/>
              </a:rPr>
              <a:t>Listas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E69A6BA-0669-E429-D564-2C545CD982FF}"/>
              </a:ext>
            </a:extLst>
          </p:cNvPr>
          <p:cNvSpPr txBox="1"/>
          <p:nvPr/>
        </p:nvSpPr>
        <p:spPr>
          <a:xfrm>
            <a:off x="671490" y="773906"/>
            <a:ext cx="9684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pt-BR" sz="3600" b="0" i="0" u="none" strike="noStrike" kern="1200" cap="none" spc="0" normalizeH="0" baseline="0" noProof="0" dirty="0">
                <a:ln>
                  <a:noFill/>
                </a:ln>
                <a:solidFill>
                  <a:srgbClr val="90C226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oper Black" panose="0208090404030B020404" pitchFamily="18" charset="0"/>
                <a:ea typeface="+mn-ea"/>
                <a:cs typeface="+mn-cs"/>
              </a:rPr>
              <a:t>Fundamentos de Estrutura de Dados</a:t>
            </a:r>
            <a:endParaRPr lang="pt-BR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F10F0F60-8518-EF27-4419-4DF435FA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2FD1D3-4436-4C40-937F-ECD2D7E0F332}" type="slidenum">
              <a:rPr lang="pt-BR" smtClean="0"/>
              <a:pPr>
                <a:defRPr/>
              </a:pPr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0761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504820-705A-44FD-804A-9A56995BB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67" y="287610"/>
            <a:ext cx="2271925" cy="706178"/>
          </a:xfrm>
        </p:spPr>
        <p:txBody>
          <a:bodyPr/>
          <a:lstStyle/>
          <a:p>
            <a:r>
              <a:rPr lang="pt-BR" dirty="0">
                <a:latin typeface="Cooper Black" panose="0208090404030B020404" pitchFamily="18" charset="0"/>
              </a:rPr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AAC2F5-1EFC-46AC-B2EF-66E11D166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313" y="1549918"/>
            <a:ext cx="7268581" cy="3261233"/>
          </a:xfrm>
        </p:spPr>
        <p:txBody>
          <a:bodyPr>
            <a:normAutofit/>
          </a:bodyPr>
          <a:lstStyle/>
          <a:p>
            <a:r>
              <a:rPr lang="pt-BR" sz="2400" dirty="0"/>
              <a:t>Listas</a:t>
            </a:r>
          </a:p>
          <a:p>
            <a:pPr marL="0" indent="0">
              <a:buNone/>
            </a:pPr>
            <a:endParaRPr lang="pt-BR" sz="2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3A19B0C-30C1-4B0E-ACAB-EFAE90453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E29E8-6E0F-4925-A21D-02D3F357D78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45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539809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pt-BR" dirty="0">
                <a:solidFill>
                  <a:schemeClr val="accent1"/>
                </a:solidFill>
                <a:latin typeface="Cooper Black" panose="0208090404030B020404" pitchFamily="18" charset="0"/>
              </a:rPr>
              <a:t>Listas</a:t>
            </a:r>
            <a:endParaRPr dirty="0">
              <a:solidFill>
                <a:schemeClr val="accent1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EF0AC68-64DD-7C89-D89B-1645A0889E8D}"/>
              </a:ext>
            </a:extLst>
          </p:cNvPr>
          <p:cNvSpPr txBox="1"/>
          <p:nvPr/>
        </p:nvSpPr>
        <p:spPr>
          <a:xfrm>
            <a:off x="415601" y="1745842"/>
            <a:ext cx="9656868" cy="3626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defTabSz="914400">
              <a:lnSpc>
                <a:spcPct val="115000"/>
              </a:lnSpc>
              <a:buClr>
                <a:srgbClr val="595959"/>
              </a:buClr>
              <a:buSzPts val="1800"/>
            </a:pPr>
            <a:r>
              <a:rPr lang="pt-BR" sz="2000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Estruturas do tipo </a:t>
            </a:r>
            <a:r>
              <a:rPr lang="pt-BR" sz="2000" b="1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vetor ou matrizes</a:t>
            </a:r>
            <a:r>
              <a:rPr lang="pt-BR" sz="2000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, tem uma implementação simples, pois o conteúdo da lista é armazenado em um </a:t>
            </a:r>
            <a:r>
              <a:rPr lang="pt-BR" sz="2000" b="1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espaço contíguo de memória</a:t>
            </a:r>
            <a:r>
              <a:rPr lang="pt-BR" sz="2000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. Apesar disso possuem a </a:t>
            </a:r>
            <a:r>
              <a:rPr lang="pt-BR" sz="2000" b="1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limitação</a:t>
            </a:r>
            <a:r>
              <a:rPr lang="pt-BR" sz="2000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 relativa à quantidade de elementos, isto é, um </a:t>
            </a:r>
            <a:r>
              <a:rPr lang="pt-BR" sz="2000" b="1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tamanho pré determinado</a:t>
            </a:r>
            <a:r>
              <a:rPr lang="pt-BR" sz="2000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, que pode ou não ser totalmente ocupado.</a:t>
            </a:r>
          </a:p>
          <a:p>
            <a:pPr lvl="0" algn="just" defTabSz="914400">
              <a:lnSpc>
                <a:spcPct val="115000"/>
              </a:lnSpc>
              <a:spcBef>
                <a:spcPts val="1200"/>
              </a:spcBef>
              <a:buClr>
                <a:srgbClr val="595959"/>
              </a:buClr>
              <a:buSzPts val="1800"/>
            </a:pPr>
            <a:r>
              <a:rPr lang="pt-BR" sz="2000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Na alocação dinâmica de </a:t>
            </a:r>
            <a:r>
              <a:rPr lang="pt-BR" sz="2400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memória</a:t>
            </a:r>
            <a:r>
              <a:rPr lang="pt-BR" sz="2000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 os dados são armazenados em posições de memória referenciadas (</a:t>
            </a:r>
            <a:r>
              <a:rPr lang="pt-BR" sz="2000" b="1" u="sng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geralmente não contíguas</a:t>
            </a:r>
            <a:r>
              <a:rPr lang="pt-BR" sz="2000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), sendo possível, a partir de um elemento, encontrar os próximos, que é reconhecido como </a:t>
            </a:r>
            <a:r>
              <a:rPr lang="pt-BR" sz="2000" b="1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lista encadeada</a:t>
            </a:r>
            <a:r>
              <a:rPr lang="pt-BR" sz="2000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.</a:t>
            </a:r>
          </a:p>
          <a:p>
            <a:pPr lvl="0" algn="just" defTabSz="91440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595959"/>
              </a:buClr>
              <a:buSzPts val="1800"/>
            </a:pPr>
            <a:r>
              <a:rPr lang="pt-BR" sz="2000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Há estrutura de dados do tipo </a:t>
            </a:r>
            <a:r>
              <a:rPr lang="pt-BR" sz="2000" b="1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listas</a:t>
            </a:r>
            <a:r>
              <a:rPr lang="pt-BR" sz="2000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, </a:t>
            </a:r>
            <a:r>
              <a:rPr lang="pt-BR" sz="2000" b="1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filas </a:t>
            </a:r>
            <a:r>
              <a:rPr lang="pt-BR" sz="2000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e </a:t>
            </a:r>
            <a:r>
              <a:rPr lang="pt-BR" sz="2000" b="1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pilhas</a:t>
            </a:r>
            <a:r>
              <a:rPr lang="pt-BR" sz="2000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, e a </a:t>
            </a:r>
            <a:r>
              <a:rPr lang="pt-BR" sz="2000" b="1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diferença principal</a:t>
            </a:r>
            <a:r>
              <a:rPr lang="pt-BR" sz="2000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 entre elas é a forma de acesso a </a:t>
            </a:r>
            <a:r>
              <a:rPr lang="pt-BR" sz="2000" b="1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inclusão e remoção de elementos</a:t>
            </a:r>
            <a:r>
              <a:rPr lang="pt-BR" sz="2000" kern="0" dirty="0">
                <a:solidFill>
                  <a:srgbClr val="595959"/>
                </a:solidFill>
                <a:latin typeface="Arial"/>
                <a:cs typeface="Arial"/>
                <a:sym typeface="Arial"/>
              </a:rPr>
              <a:t>.</a:t>
            </a:r>
          </a:p>
        </p:txBody>
      </p:sp>
      <p:pic>
        <p:nvPicPr>
          <p:cNvPr id="2" name="Google Shape;746;p118">
            <a:extLst>
              <a:ext uri="{FF2B5EF4-FFF2-40B4-BE49-F238E27FC236}">
                <a16:creationId xmlns:a16="http://schemas.microsoft.com/office/drawing/2014/main" id="{5F8341F0-2540-86FE-2C09-9DE8912C3D9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821171" y="204492"/>
            <a:ext cx="832343" cy="11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2"/>
          <p:cNvSpPr txBox="1">
            <a:spLocks noGrp="1"/>
          </p:cNvSpPr>
          <p:nvPr>
            <p:ph type="title"/>
          </p:nvPr>
        </p:nvSpPr>
        <p:spPr>
          <a:xfrm>
            <a:off x="1020510" y="494893"/>
            <a:ext cx="3875047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pt-BR" sz="3200" dirty="0">
                <a:solidFill>
                  <a:schemeClr val="accent1"/>
                </a:solidFill>
                <a:latin typeface="Cooper Black" panose="0208090404030B020404" pitchFamily="18" charset="0"/>
              </a:rPr>
              <a:t>Listas Encadeadas </a:t>
            </a:r>
            <a:endParaRPr sz="3200" dirty="0">
              <a:solidFill>
                <a:schemeClr val="accent1"/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D5D54F-7E34-B0E5-3F76-4630020FD1BD}"/>
              </a:ext>
            </a:extLst>
          </p:cNvPr>
          <p:cNvSpPr txBox="1"/>
          <p:nvPr/>
        </p:nvSpPr>
        <p:spPr>
          <a:xfrm>
            <a:off x="542209" y="1572786"/>
            <a:ext cx="8883145" cy="406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 espaço total de memória gasto pela estrutura é proporcional ao número de elementos nela armazenados. Não se pode garantir que os elementos armazenados na lista ocuparão um espaço de memória contíguo.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Cada elemento da lista armazena junto a informação (ponteiro) para o próximo elemento da lista. Podem crescer ou diminuir de tamanho durante a execução de um programa, de acordo com a demanda.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Adequadas quando não é possível prever a demanda de dados É possível inserir e retirar elementos sem necessidade de deslocar os itens seguintes da lista.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595959"/>
              </a:buClr>
              <a:buSzPts val="1800"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Desvantagem: utilização de memória extra para armazenar os apontadores.</a:t>
            </a:r>
          </a:p>
        </p:txBody>
      </p:sp>
    </p:spTree>
    <p:extLst>
      <p:ext uri="{BB962C8B-B14F-4D97-AF65-F5344CB8AC3E}">
        <p14:creationId xmlns:p14="http://schemas.microsoft.com/office/powerpoint/2010/main" val="88800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457200"/>
            <a:r>
              <a:rPr lang="pt-BR" sz="2900" kern="1200" dirty="0">
                <a:solidFill>
                  <a:srgbClr val="92D050"/>
                </a:solidFill>
                <a:latin typeface="Cooper Black" panose="0208090404030B020404" pitchFamily="18" charset="0"/>
                <a:ea typeface="+mj-ea"/>
                <a:cs typeface="+mj-cs"/>
              </a:rPr>
              <a:t>O que é uma Lista?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3D8AC3-A992-165A-3592-DFC68DAD3CF3}"/>
              </a:ext>
            </a:extLst>
          </p:cNvPr>
          <p:cNvSpPr txBox="1"/>
          <p:nvPr/>
        </p:nvSpPr>
        <p:spPr>
          <a:xfrm>
            <a:off x="611944" y="1589038"/>
            <a:ext cx="9741877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000" dirty="0"/>
              <a:t>Uma </a:t>
            </a:r>
            <a:r>
              <a:rPr lang="pt-BR" sz="2000" b="1" dirty="0"/>
              <a:t>Lista</a:t>
            </a:r>
            <a:r>
              <a:rPr lang="pt-BR" sz="2000" dirty="0"/>
              <a:t> é uma </a:t>
            </a:r>
            <a:r>
              <a:rPr lang="pt-BR" sz="2000" b="1" dirty="0"/>
              <a:t>estrutura de dados</a:t>
            </a:r>
            <a:r>
              <a:rPr lang="pt-BR" sz="2000" dirty="0"/>
              <a:t> usada para armazenar vários valores.</a:t>
            </a:r>
            <a:br>
              <a:rPr lang="pt-BR" sz="2000" dirty="0"/>
            </a:br>
            <a:r>
              <a:rPr lang="pt-BR" sz="2000" dirty="0"/>
              <a:t>Ela é formada por </a:t>
            </a:r>
            <a:r>
              <a:rPr lang="pt-BR" sz="2000" b="1" dirty="0"/>
              <a:t>nós (elementos)</a:t>
            </a:r>
            <a:r>
              <a:rPr lang="pt-BR" sz="2000" dirty="0"/>
              <a:t> que são ligados entre si por </a:t>
            </a:r>
            <a:r>
              <a:rPr lang="pt-BR" sz="2000" b="1" dirty="0"/>
              <a:t>ponteiros</a:t>
            </a:r>
            <a:r>
              <a:rPr lang="pt-BR" sz="2000" dirty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000" dirty="0"/>
              <a:t>Cada </a:t>
            </a:r>
            <a:r>
              <a:rPr lang="pt-BR" sz="2000" b="1" dirty="0"/>
              <a:t>nó</a:t>
            </a:r>
            <a:r>
              <a:rPr lang="pt-BR" sz="2000" dirty="0"/>
              <a:t> guarda: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 um valor (por exemplo, um número)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dirty="0"/>
              <a:t> o endereço do próximo nó</a:t>
            </a:r>
          </a:p>
        </p:txBody>
      </p:sp>
    </p:spTree>
    <p:extLst>
      <p:ext uri="{BB962C8B-B14F-4D97-AF65-F5344CB8AC3E}">
        <p14:creationId xmlns:p14="http://schemas.microsoft.com/office/powerpoint/2010/main" val="333941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457200"/>
            <a:r>
              <a:rPr lang="pt-BR" sz="3200" kern="1200" dirty="0">
                <a:solidFill>
                  <a:srgbClr val="92D050"/>
                </a:solidFill>
                <a:latin typeface="Cooper Black" panose="0208090404030B020404" pitchFamily="18" charset="0"/>
                <a:ea typeface="+mj-ea"/>
                <a:cs typeface="+mj-cs"/>
              </a:rPr>
              <a:t>O que é uma Lista?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4AC6A8A-CAD6-BB52-A6B1-4772FBDE3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638147"/>
              </p:ext>
            </p:extLst>
          </p:nvPr>
        </p:nvGraphicFramePr>
        <p:xfrm>
          <a:off x="416249" y="1765948"/>
          <a:ext cx="11360151" cy="2773680"/>
        </p:xfrm>
        <a:graphic>
          <a:graphicData uri="http://schemas.openxmlformats.org/drawingml/2006/table">
            <a:tbl>
              <a:tblPr/>
              <a:tblGrid>
                <a:gridCol w="3786717">
                  <a:extLst>
                    <a:ext uri="{9D8B030D-6E8A-4147-A177-3AD203B41FA5}">
                      <a16:colId xmlns:a16="http://schemas.microsoft.com/office/drawing/2014/main" val="3684297143"/>
                    </a:ext>
                  </a:extLst>
                </a:gridCol>
                <a:gridCol w="3786717">
                  <a:extLst>
                    <a:ext uri="{9D8B030D-6E8A-4147-A177-3AD203B41FA5}">
                      <a16:colId xmlns:a16="http://schemas.microsoft.com/office/drawing/2014/main" val="3262508855"/>
                    </a:ext>
                  </a:extLst>
                </a:gridCol>
                <a:gridCol w="3786717">
                  <a:extLst>
                    <a:ext uri="{9D8B030D-6E8A-4147-A177-3AD203B41FA5}">
                      <a16:colId xmlns:a16="http://schemas.microsoft.com/office/drawing/2014/main" val="1832864473"/>
                    </a:ext>
                  </a:extLst>
                </a:gridCol>
              </a:tblGrid>
              <a:tr h="375984">
                <a:tc>
                  <a:txBody>
                    <a:bodyPr/>
                    <a:lstStyle/>
                    <a:p>
                      <a:r>
                        <a:rPr lang="pt-BR" sz="1900" b="1" dirty="0"/>
                        <a:t>Característica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 dirty="0"/>
                        <a:t>Vetor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 dirty="0"/>
                        <a:t>Lista Encadeada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346322"/>
                  </a:ext>
                </a:extLst>
              </a:tr>
              <a:tr h="660527">
                <a:tc>
                  <a:txBody>
                    <a:bodyPr/>
                    <a:lstStyle/>
                    <a:p>
                      <a:r>
                        <a:rPr lang="pt-BR" sz="1900"/>
                        <a:t>Tamanho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900"/>
                        <a:t>Fixo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dirty="0"/>
                        <a:t>Dinâmico (cresce conforme necessário)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44346"/>
                  </a:ext>
                </a:extLst>
              </a:tr>
              <a:tr h="375984">
                <a:tc>
                  <a:txBody>
                    <a:bodyPr/>
                    <a:lstStyle/>
                    <a:p>
                      <a:r>
                        <a:rPr lang="pt-BR" sz="1900" dirty="0"/>
                        <a:t>Acesso a posição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dirty="0"/>
                        <a:t>Direto (rápido)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dirty="0"/>
                        <a:t>Precisa percorrer (mais lento)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510337"/>
                  </a:ext>
                </a:extLst>
              </a:tr>
              <a:tr h="375984">
                <a:tc>
                  <a:txBody>
                    <a:bodyPr/>
                    <a:lstStyle/>
                    <a:p>
                      <a:r>
                        <a:rPr lang="pt-BR" sz="1900"/>
                        <a:t>Inserção e remoção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dirty="0"/>
                        <a:t>Difícil (tem que mover elementos)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dirty="0"/>
                        <a:t>Fácil (só mexe nos ponteiros)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1130936"/>
                  </a:ext>
                </a:extLst>
              </a:tr>
              <a:tr h="660527">
                <a:tc>
                  <a:txBody>
                    <a:bodyPr/>
                    <a:lstStyle/>
                    <a:p>
                      <a:r>
                        <a:rPr lang="pt-BR" sz="1900" dirty="0"/>
                        <a:t>Memória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dirty="0"/>
                        <a:t>Contínua (um bloco só)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dirty="0"/>
                        <a:t>Não precisa ser contínua (uso eficiente da memória)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317104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9FA57F90-7003-1EA3-B0EB-E9D4BBD4A8E1}"/>
              </a:ext>
            </a:extLst>
          </p:cNvPr>
          <p:cNvSpPr txBox="1"/>
          <p:nvPr/>
        </p:nvSpPr>
        <p:spPr>
          <a:xfrm>
            <a:off x="542208" y="5131489"/>
            <a:ext cx="108526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Quando usar Lista?</a:t>
            </a:r>
          </a:p>
          <a:p>
            <a:r>
              <a:rPr lang="pt-BR" dirty="0"/>
              <a:t>→ Quando você </a:t>
            </a:r>
            <a:r>
              <a:rPr lang="pt-BR" b="1" dirty="0"/>
              <a:t>não sabe o tamanho</a:t>
            </a:r>
            <a:r>
              <a:rPr lang="pt-BR" dirty="0"/>
              <a:t> dos dados previamente</a:t>
            </a:r>
          </a:p>
          <a:p>
            <a:r>
              <a:rPr lang="pt-BR" dirty="0"/>
              <a:t>→ Quando precisa </a:t>
            </a:r>
            <a:r>
              <a:rPr lang="pt-BR" b="1" dirty="0"/>
              <a:t>inserir e remover</a:t>
            </a:r>
            <a:r>
              <a:rPr lang="pt-BR" dirty="0"/>
              <a:t> elementos com frequência</a:t>
            </a:r>
          </a:p>
        </p:txBody>
      </p:sp>
    </p:spTree>
    <p:extLst>
      <p:ext uri="{BB962C8B-B14F-4D97-AF65-F5344CB8AC3E}">
        <p14:creationId xmlns:p14="http://schemas.microsoft.com/office/powerpoint/2010/main" val="126377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457200"/>
            <a:r>
              <a:rPr lang="pt-BR" sz="3200" kern="1200" dirty="0">
                <a:solidFill>
                  <a:srgbClr val="92D050"/>
                </a:solidFill>
                <a:latin typeface="Cooper Black" panose="0208090404030B020404" pitchFamily="18" charset="0"/>
                <a:ea typeface="+mj-ea"/>
                <a:cs typeface="+mj-cs"/>
              </a:rPr>
              <a:t>Estrutura de um Nó (Elemento da Lista)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7898632-74FC-329B-B1DC-E80D8F182C04}"/>
              </a:ext>
            </a:extLst>
          </p:cNvPr>
          <p:cNvSpPr txBox="1"/>
          <p:nvPr/>
        </p:nvSpPr>
        <p:spPr>
          <a:xfrm>
            <a:off x="808892" y="1436893"/>
            <a:ext cx="32004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Em C usamos </a:t>
            </a:r>
            <a:r>
              <a:rPr lang="pt-BR" sz="2000" dirty="0" err="1"/>
              <a:t>struct</a:t>
            </a:r>
            <a:r>
              <a:rPr lang="pt-BR" sz="2000" dirty="0"/>
              <a:t>:</a:t>
            </a:r>
          </a:p>
          <a:p>
            <a:endParaRPr lang="pt-BR" sz="2000" dirty="0"/>
          </a:p>
          <a:p>
            <a:endParaRPr lang="pt-BR" sz="2000" dirty="0"/>
          </a:p>
          <a:p>
            <a:r>
              <a:rPr lang="pt-BR" sz="2000" b="1" dirty="0" err="1"/>
              <a:t>struct</a:t>
            </a:r>
            <a:r>
              <a:rPr lang="pt-BR" sz="2000" b="1" dirty="0"/>
              <a:t> No {  </a:t>
            </a:r>
          </a:p>
          <a:p>
            <a:r>
              <a:rPr lang="pt-BR" sz="2000" dirty="0"/>
              <a:t>  </a:t>
            </a:r>
            <a:r>
              <a:rPr lang="pt-BR" sz="2000" dirty="0" err="1"/>
              <a:t>int</a:t>
            </a:r>
            <a:r>
              <a:rPr lang="pt-BR" sz="2000" dirty="0"/>
              <a:t> valor; </a:t>
            </a:r>
          </a:p>
          <a:p>
            <a:r>
              <a:rPr lang="pt-BR" sz="2000" dirty="0"/>
              <a:t>  </a:t>
            </a:r>
            <a:r>
              <a:rPr lang="pt-BR" sz="2000" dirty="0" err="1"/>
              <a:t>struct</a:t>
            </a:r>
            <a:r>
              <a:rPr lang="pt-BR" sz="2000" dirty="0"/>
              <a:t> No *</a:t>
            </a:r>
            <a:r>
              <a:rPr lang="pt-BR" sz="2000" dirty="0" err="1"/>
              <a:t>proximo</a:t>
            </a:r>
            <a:r>
              <a:rPr lang="pt-BR" sz="2000" dirty="0"/>
              <a:t>;  </a:t>
            </a:r>
          </a:p>
          <a:p>
            <a:r>
              <a:rPr lang="pt-BR" sz="2000" dirty="0"/>
              <a:t>};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40C6D0F-FD07-4A5B-41D8-3DD98031B6FE}"/>
              </a:ext>
            </a:extLst>
          </p:cNvPr>
          <p:cNvSpPr txBox="1"/>
          <p:nvPr/>
        </p:nvSpPr>
        <p:spPr>
          <a:xfrm>
            <a:off x="202223" y="4206882"/>
            <a:ext cx="68861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Primeira lista: criar e inserir no início</a:t>
            </a:r>
          </a:p>
          <a:p>
            <a:r>
              <a:rPr lang="pt-BR" b="1" dirty="0"/>
              <a:t>Passo a passo:</a:t>
            </a:r>
          </a:p>
          <a:p>
            <a:pPr>
              <a:buFont typeface="+mj-lt"/>
              <a:buAutoNum type="arabicPeriod"/>
            </a:pPr>
            <a:r>
              <a:rPr lang="pt-BR" dirty="0"/>
              <a:t>Criamos um ponteiro chamado </a:t>
            </a:r>
            <a:r>
              <a:rPr lang="pt-BR" b="1" dirty="0"/>
              <a:t>inicio</a:t>
            </a:r>
            <a:r>
              <a:rPr lang="pt-BR" dirty="0"/>
              <a:t> que aponta para o primeiro elemento.</a:t>
            </a:r>
          </a:p>
          <a:p>
            <a:pPr>
              <a:buFont typeface="+mj-lt"/>
              <a:buAutoNum type="arabicPeriod"/>
            </a:pPr>
            <a:r>
              <a:rPr lang="pt-BR" dirty="0"/>
              <a:t>Quando inserimos um novo valor, criamos um novo nó.</a:t>
            </a:r>
          </a:p>
          <a:p>
            <a:pPr>
              <a:buFont typeface="+mj-lt"/>
              <a:buAutoNum type="arabicPeriod"/>
            </a:pPr>
            <a:r>
              <a:rPr lang="pt-BR" dirty="0"/>
              <a:t>O novo nó aponta para o nó que já existia.</a:t>
            </a:r>
          </a:p>
          <a:p>
            <a:pPr>
              <a:buFont typeface="+mj-lt"/>
              <a:buAutoNum type="arabicPeriod"/>
            </a:pPr>
            <a:r>
              <a:rPr lang="pt-BR" dirty="0"/>
              <a:t>Atualizamos o ponteiro </a:t>
            </a:r>
            <a:r>
              <a:rPr lang="pt-BR" b="1" dirty="0"/>
              <a:t>inicio</a:t>
            </a:r>
            <a:r>
              <a:rPr lang="pt-BR" dirty="0"/>
              <a:t>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D6991EB-D0C3-66AB-C4A2-B8458527E5C2}"/>
              </a:ext>
            </a:extLst>
          </p:cNvPr>
          <p:cNvSpPr txBox="1"/>
          <p:nvPr/>
        </p:nvSpPr>
        <p:spPr>
          <a:xfrm>
            <a:off x="6473483" y="1436893"/>
            <a:ext cx="561008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pt-BR" b="1" dirty="0" err="1"/>
              <a:t>struct</a:t>
            </a:r>
            <a:r>
              <a:rPr lang="pt-BR" b="1" dirty="0"/>
              <a:t> No </a:t>
            </a:r>
          </a:p>
          <a:p>
            <a:r>
              <a:rPr lang="pt-BR" dirty="0"/>
              <a:t>Define um tipo composto — um formato de dados que agrupa diferentes campos (aqui: um inteiro e um ponteiro). </a:t>
            </a:r>
          </a:p>
          <a:p>
            <a:r>
              <a:rPr lang="pt-BR" dirty="0"/>
              <a:t> Cada instância (cada nó) representa um  elemento da lista encadeada.</a:t>
            </a:r>
          </a:p>
          <a:p>
            <a:pPr marL="342900" indent="-342900">
              <a:buAutoNum type="arabicParenR"/>
            </a:pPr>
            <a:endParaRPr lang="pt-BR" dirty="0"/>
          </a:p>
          <a:p>
            <a:pPr marL="365125" indent="-365125"/>
            <a:r>
              <a:rPr lang="pt-BR" b="1" dirty="0"/>
              <a:t>2) </a:t>
            </a:r>
            <a:r>
              <a:rPr lang="pt-BR" b="1" dirty="0" err="1"/>
              <a:t>int</a:t>
            </a:r>
            <a:r>
              <a:rPr lang="pt-BR" b="1" dirty="0"/>
              <a:t> valor:</a:t>
            </a:r>
          </a:p>
          <a:p>
            <a:r>
              <a:rPr lang="pt-BR" dirty="0"/>
              <a:t>Armazena a informação do nó (no exemplo, um número inteiro).</a:t>
            </a:r>
          </a:p>
          <a:p>
            <a:r>
              <a:rPr lang="pt-BR" dirty="0"/>
              <a:t>Ocupa normalmente 4 bytes em arquiteturas comuns (mas pode variar conforme compilador/plataforma).</a:t>
            </a:r>
          </a:p>
          <a:p>
            <a:endParaRPr lang="pt-BR" dirty="0"/>
          </a:p>
          <a:p>
            <a:pPr marL="365125" indent="-365125"/>
            <a:r>
              <a:rPr lang="pt-BR" b="1" dirty="0"/>
              <a:t>3) </a:t>
            </a:r>
            <a:r>
              <a:rPr lang="pt-BR" b="1" dirty="0" err="1"/>
              <a:t>struct</a:t>
            </a:r>
            <a:r>
              <a:rPr lang="pt-BR" b="1" dirty="0"/>
              <a:t> No *</a:t>
            </a:r>
            <a:r>
              <a:rPr lang="pt-BR" b="1" dirty="0" err="1"/>
              <a:t>proximo</a:t>
            </a:r>
            <a:r>
              <a:rPr lang="pt-BR" b="1" dirty="0"/>
              <a:t>; </a:t>
            </a:r>
          </a:p>
          <a:p>
            <a:pPr marL="365125" indent="-365125"/>
            <a:r>
              <a:rPr lang="pt-BR" dirty="0"/>
              <a:t>É um ponteiro para outro </a:t>
            </a:r>
            <a:r>
              <a:rPr lang="pt-BR" dirty="0" err="1"/>
              <a:t>struct</a:t>
            </a:r>
            <a:r>
              <a:rPr lang="pt-BR" dirty="0"/>
              <a:t> No.</a:t>
            </a:r>
          </a:p>
          <a:p>
            <a:pPr marL="365125" indent="-365125"/>
            <a:r>
              <a:rPr lang="pt-BR" dirty="0"/>
              <a:t>Guarda o endereço do próximo nó na lista.</a:t>
            </a:r>
          </a:p>
          <a:p>
            <a:r>
              <a:rPr lang="pt-BR" dirty="0"/>
              <a:t>Se for NULL, significa “este nó é o último” ou “não há próximo”.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7DC3E9D-B239-801F-96C0-8724E8409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138" y="2373494"/>
            <a:ext cx="1726380" cy="948293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60CBFEE6-AF92-6B81-F16E-2895293045F1}"/>
              </a:ext>
            </a:extLst>
          </p:cNvPr>
          <p:cNvSpPr txBox="1"/>
          <p:nvPr/>
        </p:nvSpPr>
        <p:spPr>
          <a:xfrm>
            <a:off x="3880205" y="3029399"/>
            <a:ext cx="90745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t-BR" sz="1600" dirty="0"/>
              <a:t>valor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5459DCE-E3F7-9EAA-7E4D-53F1357D6AE8}"/>
              </a:ext>
            </a:extLst>
          </p:cNvPr>
          <p:cNvSpPr txBox="1"/>
          <p:nvPr/>
        </p:nvSpPr>
        <p:spPr>
          <a:xfrm>
            <a:off x="4748927" y="3029399"/>
            <a:ext cx="90745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1600" dirty="0" err="1"/>
              <a:t>proximo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04196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defTabSz="457200"/>
            <a:r>
              <a:rPr lang="pt-BR" sz="3200" kern="1200" dirty="0">
                <a:solidFill>
                  <a:srgbClr val="92D050"/>
                </a:solidFill>
                <a:latin typeface="Cooper Black" panose="0208090404030B020404" pitchFamily="18" charset="0"/>
                <a:ea typeface="+mj-ea"/>
                <a:cs typeface="+mj-cs"/>
              </a:rPr>
              <a:t>Estrutura de um Nó (Elemento da Lista)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84E6BBC-AD19-46BF-8BAF-E2E78C86A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59" y="1165088"/>
            <a:ext cx="6486306" cy="539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0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CD6308BF-3D72-2A2C-741C-4717874F8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945613"/>
            <a:ext cx="9486900" cy="322897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C2C9DCB-01AC-5D5C-BBB4-592B42489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" y="4174588"/>
            <a:ext cx="733425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59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A802922-30C2-B39C-9C4B-920CCF932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60" y="266700"/>
            <a:ext cx="9210675" cy="31623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DE6F569-BF31-A4F0-5B38-228C0F892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60" y="3933825"/>
            <a:ext cx="886777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787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2774CE6-BEC2-3A22-60BC-324C85F16ED7}"/>
              </a:ext>
            </a:extLst>
          </p:cNvPr>
          <p:cNvSpPr txBox="1"/>
          <p:nvPr/>
        </p:nvSpPr>
        <p:spPr>
          <a:xfrm>
            <a:off x="784273" y="397866"/>
            <a:ext cx="92881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Linha 1</a:t>
            </a:r>
          </a:p>
          <a:p>
            <a:r>
              <a:rPr lang="pt-BR" b="1" dirty="0" err="1">
                <a:solidFill>
                  <a:srgbClr val="C00000"/>
                </a:solidFill>
              </a:rPr>
              <a:t>void</a:t>
            </a:r>
            <a:r>
              <a:rPr lang="pt-BR" b="1" dirty="0">
                <a:solidFill>
                  <a:srgbClr val="C00000"/>
                </a:solidFill>
              </a:rPr>
              <a:t> </a:t>
            </a:r>
            <a:r>
              <a:rPr lang="pt-BR" b="1" dirty="0" err="1">
                <a:solidFill>
                  <a:srgbClr val="C00000"/>
                </a:solidFill>
              </a:rPr>
              <a:t>inserirNoInicio</a:t>
            </a:r>
            <a:r>
              <a:rPr lang="pt-BR" b="1" dirty="0">
                <a:solidFill>
                  <a:srgbClr val="C00000"/>
                </a:solidFill>
              </a:rPr>
              <a:t>(</a:t>
            </a:r>
            <a:r>
              <a:rPr lang="pt-BR" b="1" dirty="0" err="1">
                <a:solidFill>
                  <a:srgbClr val="C00000"/>
                </a:solidFill>
              </a:rPr>
              <a:t>struct</a:t>
            </a:r>
            <a:r>
              <a:rPr lang="pt-BR" b="1" dirty="0">
                <a:solidFill>
                  <a:srgbClr val="C00000"/>
                </a:solidFill>
              </a:rPr>
              <a:t> No **inicio, </a:t>
            </a:r>
            <a:r>
              <a:rPr lang="pt-BR" b="1" dirty="0" err="1">
                <a:solidFill>
                  <a:srgbClr val="C00000"/>
                </a:solidFill>
              </a:rPr>
              <a:t>int</a:t>
            </a:r>
            <a:r>
              <a:rPr lang="pt-BR" b="1" dirty="0">
                <a:solidFill>
                  <a:srgbClr val="C00000"/>
                </a:solidFill>
              </a:rPr>
              <a:t> numero) {</a:t>
            </a:r>
          </a:p>
          <a:p>
            <a:endParaRPr lang="pt-BR" dirty="0"/>
          </a:p>
          <a:p>
            <a:r>
              <a:rPr lang="pt-BR" dirty="0"/>
              <a:t>A função recebe:</a:t>
            </a:r>
          </a:p>
          <a:p>
            <a:endParaRPr lang="pt-BR" dirty="0"/>
          </a:p>
          <a:p>
            <a:r>
              <a:rPr lang="pt-BR" b="1" dirty="0"/>
              <a:t>**inicio: </a:t>
            </a:r>
            <a:r>
              <a:rPr lang="pt-BR" dirty="0"/>
              <a:t>o endereço do ponteiro que aponta para o primeiro nó.</a:t>
            </a:r>
          </a:p>
          <a:p>
            <a:r>
              <a:rPr lang="pt-BR" b="1" dirty="0"/>
              <a:t>numero: </a:t>
            </a:r>
            <a:r>
              <a:rPr lang="pt-BR" dirty="0"/>
              <a:t>o valor que queremos colocar no novo nó.</a:t>
            </a:r>
          </a:p>
          <a:p>
            <a:r>
              <a:rPr lang="pt-BR" b="1" dirty="0"/>
              <a:t>Ou seja, essa função vai criar um nó e colocá-lo como o primeiro da lista.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F1A5723-14AC-4D78-4516-387FE9196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73" y="3274648"/>
            <a:ext cx="952382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Linha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struct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 No *novo =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malloc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(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sizeof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(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struct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 No)); </a:t>
            </a:r>
            <a:endParaRPr kumimoji="0" lang="pt-BR" altLang="pt-BR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 um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novo nó na memória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usando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malloc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malloc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reserva espaço suficiente para armazenar um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struct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No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novo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é um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ponteiro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passa a apontar para esse espaço na memória.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A348F9F-629A-C163-84A4-9B44D7227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73" y="5356165"/>
            <a:ext cx="754380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Linha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novo-&gt;valor = numero; </a:t>
            </a:r>
            <a:endParaRPr kumimoji="0" lang="pt-BR" altLang="pt-BR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Armazena o valor desejado dentro do nó.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-&gt;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é usado porque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novo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é um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ponteiro para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06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1144C5-31D5-A8AA-651A-2537B258F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167" y="418741"/>
            <a:ext cx="1062110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Linha 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novo-&gt;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proximo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 = *inicio; </a:t>
            </a: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Aqui pegamos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valor do ponteiro original da lista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ou seja, o endereço do primeiro nó.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 colocamos no campo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proximo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 novo nó.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a lista era: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inicio → [A] → [B] → NULL </a:t>
            </a: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Agora fica: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novo → [A] → [B] → NULL </a:t>
            </a: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 seja, o novo nó passa a apontar para o antigo primeiro nó.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664E6D-7F75-6228-2BB4-D887636CA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167" y="3559982"/>
            <a:ext cx="1035382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Linha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 Unicode MS"/>
              </a:rPr>
              <a:t>*inicio = novo; </a:t>
            </a: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Aqui atualizamos o ponteiro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inicio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(por isso ele foi passado como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**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Agora o início da lista passa a apontar para o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novo nó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 final: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inicio → novo → antigo início → .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.. 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antes era: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inicio → [10] → [5] → NULL </a:t>
            </a: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Depois de inserir 20: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inicio → [20] → [10] → [5] → NULL</a:t>
            </a: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57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94B3D1F-BA96-5E37-425A-7D396C839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948" y="306982"/>
            <a:ext cx="1081805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3200" b="1" dirty="0">
                <a:solidFill>
                  <a:srgbClr val="92D050"/>
                </a:solidFill>
                <a:latin typeface="Cooper Black" panose="0208090404030B020404" pitchFamily="18" charset="0"/>
                <a:ea typeface="+mj-ea"/>
                <a:cs typeface="+mj-cs"/>
                <a:sym typeface="Arial"/>
              </a:rPr>
              <a:t>Atividade 1 — Inserindo 5 números na lista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3200" b="1" dirty="0">
              <a:solidFill>
                <a:srgbClr val="92D050"/>
              </a:solidFill>
              <a:latin typeface="Cooper Black" panose="0208090404030B020404" pitchFamily="18" charset="0"/>
              <a:ea typeface="+mj-ea"/>
              <a:cs typeface="+mj-cs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Objetivo: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Praticar a criação da lista encadeada e a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inserção no início.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Instruções: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Crie um programa em C que: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Declare a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estrutura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Comece com a lista vazia (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inicio = NULL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Peça ao usuário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números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pelo teclado.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cada número digitado, insira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início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 lista.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Ao final,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mostre a lista na tela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219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94B3D1F-BA96-5E37-425A-7D396C839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948" y="306982"/>
            <a:ext cx="1081805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3200" b="1" dirty="0">
                <a:solidFill>
                  <a:srgbClr val="92D050"/>
                </a:solidFill>
                <a:latin typeface="Cooper Black" panose="0208090404030B020404" pitchFamily="18" charset="0"/>
                <a:ea typeface="+mj-ea"/>
                <a:cs typeface="+mj-cs"/>
                <a:sym typeface="Arial"/>
              </a:rPr>
              <a:t>Atividade 2 — Inserindo 5 números na lista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3200" b="1" dirty="0">
              <a:solidFill>
                <a:srgbClr val="92D050"/>
              </a:solidFill>
              <a:latin typeface="Cooper Black" panose="0208090404030B020404" pitchFamily="18" charset="0"/>
              <a:ea typeface="+mj-ea"/>
              <a:cs typeface="+mj-cs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Objetivo: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Praticar a criação da lista encadeada e a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inserção no final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Instruções: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Crie um programa em C que: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Declare a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estrutura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Comece com a lista vazia (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inicio = NULL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Peça ao usuário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números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pelo teclado.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cada número digitado, insira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final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 lista encadeada.</a:t>
            </a:r>
            <a:endParaRPr lang="pt-BR" altLang="pt-BR" sz="2000" dirty="0"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Ao final,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mostre a lista na tela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25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Opet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 Opet" id="{BA0931E5-EB0F-4C00-9983-DEBE1CA39C2C}" vid="{59912DF0-7D92-4C3E-B857-D6B8C961C19B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Opet</Template>
  <TotalTime>6143</TotalTime>
  <Words>1049</Words>
  <Application>Microsoft Office PowerPoint</Application>
  <PresentationFormat>Widescreen</PresentationFormat>
  <Paragraphs>128</Paragraphs>
  <Slides>14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14</vt:i4>
      </vt:variant>
    </vt:vector>
  </HeadingPairs>
  <TitlesOfParts>
    <vt:vector size="24" baseType="lpstr">
      <vt:lpstr>Aharoni</vt:lpstr>
      <vt:lpstr>Arial</vt:lpstr>
      <vt:lpstr>Arial Unicode MS</vt:lpstr>
      <vt:lpstr>Britannic Bold</vt:lpstr>
      <vt:lpstr>Calibri</vt:lpstr>
      <vt:lpstr>Cooper Black</vt:lpstr>
      <vt:lpstr>Trebuchet MS</vt:lpstr>
      <vt:lpstr>Wingdings 3</vt:lpstr>
      <vt:lpstr>Tema Opet</vt:lpstr>
      <vt:lpstr>Simple Light</vt:lpstr>
      <vt:lpstr>Apresentação do PowerPoint</vt:lpstr>
      <vt:lpstr>Agenda</vt:lpstr>
      <vt:lpstr>Listas</vt:lpstr>
      <vt:lpstr>Listas Encadeadas </vt:lpstr>
      <vt:lpstr>O que é uma Lista?</vt:lpstr>
      <vt:lpstr>O que é uma Lista?</vt:lpstr>
      <vt:lpstr>Estrutura de um Nó (Elemento da Lista)</vt:lpstr>
      <vt:lpstr>Estrutura de um Nó (Elemento da Lista)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</dc:title>
  <dc:creator>user</dc:creator>
  <cp:lastModifiedBy>ROSANE ORTIZ LANGNER </cp:lastModifiedBy>
  <cp:revision>416</cp:revision>
  <dcterms:created xsi:type="dcterms:W3CDTF">2021-08-04T18:05:58Z</dcterms:created>
  <dcterms:modified xsi:type="dcterms:W3CDTF">2025-10-29T22:15:19Z</dcterms:modified>
</cp:coreProperties>
</file>